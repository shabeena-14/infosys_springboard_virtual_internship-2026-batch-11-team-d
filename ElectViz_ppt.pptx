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58" r:id="rId4"/>
    <p:sldId id="259" r:id="rId5"/>
    <p:sldId id="260" r:id="rId6"/>
    <p:sldId id="268" r:id="rId7"/>
    <p:sldId id="269" r:id="rId8"/>
    <p:sldId id="270" r:id="rId9"/>
    <p:sldId id="264" r:id="rId10"/>
    <p:sldId id="263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78" d="100"/>
          <a:sy n="78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45393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98358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95218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13-02-2026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49745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13-02-2026</a:t>
            </a:fld>
            <a:endParaRPr lang="en-IN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37211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13-02-2026</a:t>
            </a:fld>
            <a:endParaRPr lang="en-IN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0951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13-02-2026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6454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13-02-2026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231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13-02-2026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42257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13-02-2026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0875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7F0A9-1185-430C-AD9F-4A6A23A39DEB}" type="datetimeFigureOut">
              <a:rPr lang="en-IN" smtClean="0"/>
              <a:t>13-02-2026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93645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1E87F0A9-1185-430C-AD9F-4A6A23A39DEB}" type="datetimeFigureOut">
              <a:rPr lang="en-IN" smtClean="0"/>
              <a:t>13-02-2026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1A8C2524-235E-4F0D-A46C-DC988CE1F8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370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A3D2B-976A-6805-0AB4-D5D9E2EE6E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4373076"/>
          </a:xfrm>
        </p:spPr>
        <p:txBody>
          <a:bodyPr anchor="ctr">
            <a:normAutofit/>
          </a:bodyPr>
          <a:lstStyle/>
          <a:p>
            <a:pPr algn="ctr"/>
            <a:r>
              <a:rPr lang="en-US" sz="3600" b="1" dirty="0" err="1">
                <a:latin typeface="Verdana" panose="020B0604030504040204" pitchFamily="34" charset="0"/>
                <a:ea typeface="Verdana" panose="020B0604030504040204" pitchFamily="34" charset="0"/>
              </a:rPr>
              <a:t>ElectViz</a:t>
            </a:r>
            <a: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</a:rPr>
              <a:t>: Election Data Visualization for Media</a:t>
            </a:r>
            <a:b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3600" b="1" dirty="0">
                <a:latin typeface="Verdana" panose="020B0604030504040204" pitchFamily="34" charset="0"/>
                <a:ea typeface="Verdana" panose="020B0604030504040204" pitchFamily="34" charset="0"/>
              </a:rPr>
              <a:t>Batch-11</a:t>
            </a:r>
            <a:endParaRPr lang="en-IN" sz="14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B531828F-2798-8BE8-56E0-23C8257DB8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265333" y="3429000"/>
            <a:ext cx="3065253" cy="3013494"/>
          </a:xfrm>
        </p:spPr>
        <p:txBody>
          <a:bodyPr anchor="ctr">
            <a:normAutofit/>
          </a:bodyPr>
          <a:lstStyle/>
          <a:p>
            <a:pPr>
              <a:spcBef>
                <a:spcPts val="600"/>
              </a:spcBef>
            </a:pPr>
            <a:r>
              <a:rPr lang="en-IN" sz="1800" dirty="0">
                <a:solidFill>
                  <a:schemeClr val="tx1"/>
                </a:solidFill>
              </a:rPr>
              <a:t>Mentor : : Mrs Nithyasri S J 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800" dirty="0">
                <a:solidFill>
                  <a:schemeClr val="tx1"/>
                </a:solidFill>
              </a:rPr>
              <a:t>Francis Daniel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800" dirty="0">
                <a:solidFill>
                  <a:schemeClr val="tx1"/>
                </a:solidFill>
              </a:rPr>
              <a:t>Swathika Murugan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800" dirty="0">
                <a:solidFill>
                  <a:schemeClr val="tx1"/>
                </a:solidFill>
              </a:rPr>
              <a:t>Shaik Shabeena Praveen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800" dirty="0">
                <a:solidFill>
                  <a:schemeClr val="tx1"/>
                </a:solidFill>
              </a:rPr>
              <a:t>Gopi Krishna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800" dirty="0">
                <a:solidFill>
                  <a:schemeClr val="tx1"/>
                </a:solidFill>
              </a:rPr>
              <a:t>Tanmay </a:t>
            </a:r>
            <a:r>
              <a:rPr lang="en-IN" sz="1800" dirty="0" err="1">
                <a:solidFill>
                  <a:schemeClr val="tx1"/>
                </a:solidFill>
              </a:rPr>
              <a:t>Parulkar</a:t>
            </a:r>
            <a:endParaRPr lang="en-IN" sz="1800" dirty="0">
              <a:solidFill>
                <a:schemeClr val="tx1"/>
              </a:solidFill>
            </a:endParaRP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1800" dirty="0" err="1">
                <a:solidFill>
                  <a:schemeClr val="tx1"/>
                </a:solidFill>
              </a:rPr>
              <a:t>Herambudu</a:t>
            </a:r>
            <a:r>
              <a:rPr lang="en-IN" sz="1800" dirty="0">
                <a:solidFill>
                  <a:schemeClr val="tx1"/>
                </a:solidFill>
              </a:rPr>
              <a:t> </a:t>
            </a:r>
            <a:r>
              <a:rPr lang="en-IN" sz="1800" dirty="0" err="1">
                <a:solidFill>
                  <a:schemeClr val="tx1"/>
                </a:solidFill>
              </a:rPr>
              <a:t>Neelapu</a:t>
            </a:r>
            <a:endParaRPr lang="en-IN" sz="18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C04BD2-18E9-4426-11A3-C654D55995CE}"/>
              </a:ext>
            </a:extLst>
          </p:cNvPr>
          <p:cNvSpPr/>
          <p:nvPr/>
        </p:nvSpPr>
        <p:spPr>
          <a:xfrm>
            <a:off x="0" y="-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351171-D266-7B39-59DE-811E0098D8EE}"/>
              </a:ext>
            </a:extLst>
          </p:cNvPr>
          <p:cNvSpPr/>
          <p:nvPr/>
        </p:nvSpPr>
        <p:spPr>
          <a:xfrm>
            <a:off x="0" y="647150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93853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7EF5E-1360-ACD8-7139-838981D70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IN" sz="3200" b="1" dirty="0">
                <a:latin typeface="Verdana" panose="020B0604030504040204" pitchFamily="34" charset="0"/>
                <a:ea typeface="Verdana" panose="020B0604030504040204" pitchFamily="34" charset="0"/>
              </a:rPr>
              <a:t>PROJECT OVERVIEW 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81C305FC-0EF7-1E45-C5C3-D40DEAD7AC0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582186" y="1362135"/>
            <a:ext cx="8081177" cy="41242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Project Name: ElectViz – Election Data Analytics Dashboard</a:t>
            </a: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Domain: 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Data Analytics &amp; Visualization</a:t>
            </a: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Tool Used: 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Microsoft Power BI</a:t>
            </a: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Dataset: 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U.S. House of Representatives Elections (1976–2022)</a:t>
            </a: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Objective:</a:t>
            </a:r>
          </a:p>
          <a:p>
            <a:pPr marL="845820" lvl="1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</a:rPr>
              <a:t>Analyze long-term election trends</a:t>
            </a:r>
          </a:p>
          <a:p>
            <a:pPr marL="845820" lvl="1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</a:rPr>
              <a:t>Understand party dominance and power shifts</a:t>
            </a:r>
          </a:p>
          <a:p>
            <a:pPr marL="845820" lvl="1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</a:rPr>
              <a:t>Compare state-wise and candidate-wise performance</a:t>
            </a:r>
          </a:p>
          <a:p>
            <a:pPr marL="50292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Outcome: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      An interactive dashboard enabling data-driven exploration of election data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4F21B9-9917-0C9C-4365-EE3DCDB82766}"/>
              </a:ext>
            </a:extLst>
          </p:cNvPr>
          <p:cNvSpPr/>
          <p:nvPr/>
        </p:nvSpPr>
        <p:spPr>
          <a:xfrm>
            <a:off x="0" y="-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0B3B8D1-DAFD-3A82-3DE2-B4ACFE3F65B6}"/>
              </a:ext>
            </a:extLst>
          </p:cNvPr>
          <p:cNvSpPr/>
          <p:nvPr/>
        </p:nvSpPr>
        <p:spPr>
          <a:xfrm>
            <a:off x="0" y="647150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7350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3C7D1-7080-DED1-AF06-D488FC130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latin typeface="Verdana" panose="020B0604030504040204" pitchFamily="34" charset="0"/>
                <a:ea typeface="Verdana" panose="020B0604030504040204" pitchFamily="34" charset="0"/>
              </a:rPr>
              <a:t>PROJECT FILES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D97AA82A-9DDA-C14F-279A-55821640E7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42269" y="1685490"/>
            <a:ext cx="5862885" cy="3477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Raw Dataset:</a:t>
            </a:r>
            <a:endParaRPr lang="en-US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45820" lvl="1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Historical U.S. House election data (CSV format)</a:t>
            </a:r>
          </a:p>
          <a:p>
            <a:pPr marL="845820" lvl="1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Processed using Power Query</a:t>
            </a:r>
          </a:p>
          <a:p>
            <a:pPr marL="845820" lvl="1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Standardized state and party names</a:t>
            </a:r>
          </a:p>
          <a:p>
            <a:pPr marL="50292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Wingdings 2" pitchFamily="18" charset="2"/>
              <a:buNone/>
            </a:pPr>
            <a:endParaRPr lang="en-US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Power BI File (.</a:t>
            </a:r>
            <a:r>
              <a:rPr lang="en-US" altLang="en-US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pbix</a:t>
            </a:r>
            <a:r>
              <a:rPr lang="en-US" alt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0292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Wingdings 2" pitchFamily="18" charset="2"/>
              <a:buNone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Contains data model, DAX measures, and dashboards</a:t>
            </a:r>
          </a:p>
          <a:p>
            <a:pPr marL="50292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Wingdings 2" pitchFamily="18" charset="2"/>
              <a:buNone/>
            </a:pPr>
            <a:endParaRPr lang="en-US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Documentation:</a:t>
            </a:r>
            <a:endParaRPr lang="en-US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45820" lvl="1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Project report</a:t>
            </a:r>
          </a:p>
          <a:p>
            <a:pPr marL="845820" lvl="1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Dashboard explanation</a:t>
            </a:r>
          </a:p>
          <a:p>
            <a:pPr marL="845820" lvl="1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PPT for final submission</a:t>
            </a:r>
            <a:endParaRPr lang="en-US" alt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C38464-834A-914F-A90D-31D5461D8FDA}"/>
              </a:ext>
            </a:extLst>
          </p:cNvPr>
          <p:cNvSpPr/>
          <p:nvPr/>
        </p:nvSpPr>
        <p:spPr>
          <a:xfrm>
            <a:off x="0" y="-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A999BD-94DA-5442-7BB0-99BD7782CA97}"/>
              </a:ext>
            </a:extLst>
          </p:cNvPr>
          <p:cNvSpPr/>
          <p:nvPr/>
        </p:nvSpPr>
        <p:spPr>
          <a:xfrm>
            <a:off x="0" y="6462357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890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EE907-BDB0-EFF7-5F3E-5909320A1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latin typeface="Verdana" panose="020B0604030504040204" pitchFamily="34" charset="0"/>
                <a:ea typeface="Verdana" panose="020B0604030504040204" pitchFamily="34" charset="0"/>
              </a:rPr>
              <a:t>KEY FEATURES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26417ED-FA75-EA00-34A6-D57CD10A86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0404" y="1303085"/>
            <a:ext cx="7107810" cy="43073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Interactive dashboards with multi-page navigation</a:t>
            </a:r>
          </a:p>
          <a:p>
            <a:pPr marL="342900" indent="-3429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Dynamic filters: </a:t>
            </a:r>
            <a:r>
              <a:rPr lang="en-US" alt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Year, State, Party</a:t>
            </a:r>
          </a:p>
          <a:p>
            <a:pPr marL="342900" indent="-3429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Election Type</a:t>
            </a:r>
          </a:p>
          <a:p>
            <a:pPr marL="342900" indent="-3429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KPI cards for: </a:t>
            </a:r>
            <a:r>
              <a:rPr lang="en-US" alt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Total votes, Total candidates, Average vote share</a:t>
            </a:r>
          </a:p>
          <a:p>
            <a:pPr marL="342900" indent="-3429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State-wise and party-wise comparison</a:t>
            </a:r>
          </a:p>
          <a:p>
            <a:pPr marL="342900" indent="-3429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Trend analysis across multiple election cycles</a:t>
            </a:r>
          </a:p>
          <a:p>
            <a:pPr marL="342900" indent="-3429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alt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User-friendly and visually consistent design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814DF1-4CE3-A35D-08BA-3C8CAF015670}"/>
              </a:ext>
            </a:extLst>
          </p:cNvPr>
          <p:cNvSpPr/>
          <p:nvPr/>
        </p:nvSpPr>
        <p:spPr>
          <a:xfrm>
            <a:off x="0" y="-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1FF9610-DA26-79A2-FA07-E167360D2531}"/>
              </a:ext>
            </a:extLst>
          </p:cNvPr>
          <p:cNvSpPr/>
          <p:nvPr/>
        </p:nvSpPr>
        <p:spPr>
          <a:xfrm>
            <a:off x="0" y="6495353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8607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94D18-2469-1425-ECD1-B8C231866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3094" y="1123837"/>
            <a:ext cx="3545512" cy="460118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IN" sz="2800" b="1" dirty="0">
                <a:latin typeface="Verdana" panose="020B0604030504040204" pitchFamily="34" charset="0"/>
                <a:ea typeface="Verdana" panose="020B0604030504040204" pitchFamily="34" charset="0"/>
              </a:rPr>
              <a:t>TOOLS</a:t>
            </a:r>
            <a:br>
              <a:rPr lang="en-IN" sz="2800" b="1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IN" sz="2800" b="1" dirty="0">
                <a:latin typeface="Verdana" panose="020B0604030504040204" pitchFamily="34" charset="0"/>
                <a:ea typeface="Verdana" panose="020B0604030504040204" pitchFamily="34" charset="0"/>
              </a:rPr>
              <a:t>&amp;</a:t>
            </a:r>
            <a:br>
              <a:rPr lang="en-IN" sz="2800" b="1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IN" sz="2800" b="1" dirty="0">
                <a:latin typeface="Verdana" panose="020B0604030504040204" pitchFamily="34" charset="0"/>
                <a:ea typeface="Verdana" panose="020B0604030504040204" pitchFamily="34" charset="0"/>
              </a:rPr>
              <a:t>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A4BAA-6E74-D138-8DD6-7ED4CBC136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0467" y="864108"/>
            <a:ext cx="8173038" cy="5120640"/>
          </a:xfrm>
        </p:spPr>
        <p:txBody>
          <a:bodyPr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Microsoft Power BI Desktop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– Data </a:t>
            </a:r>
            <a:r>
              <a:rPr lang="en-IN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dashboard development</a:t>
            </a:r>
          </a:p>
          <a:p>
            <a:pPr>
              <a:lnSpc>
                <a:spcPct val="150000"/>
              </a:lnSpc>
            </a:pP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Power Query (M Language)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– ETL, data cleaning, and transformation</a:t>
            </a:r>
          </a:p>
          <a:p>
            <a:pPr>
              <a:lnSpc>
                <a:spcPct val="150000"/>
              </a:lnSpc>
            </a:pP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DAX (Data Analysis Expressions)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– Advanced calculations and KPIs</a:t>
            </a:r>
          </a:p>
          <a:p>
            <a:pPr>
              <a:lnSpc>
                <a:spcPct val="150000"/>
              </a:lnSpc>
            </a:pP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Interactive Slicers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– Dynamic filtering by year, state, and party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B8A5E5-337A-8EB5-9954-1A70E5A54803}"/>
              </a:ext>
            </a:extLst>
          </p:cNvPr>
          <p:cNvSpPr/>
          <p:nvPr/>
        </p:nvSpPr>
        <p:spPr>
          <a:xfrm>
            <a:off x="0" y="-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1E4B52-6918-103C-63B7-664F523F5176}"/>
              </a:ext>
            </a:extLst>
          </p:cNvPr>
          <p:cNvSpPr/>
          <p:nvPr/>
        </p:nvSpPr>
        <p:spPr>
          <a:xfrm>
            <a:off x="0" y="6462358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7812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32F14-CF6A-A58B-AF73-4CB769130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IN" sz="3200" b="1" dirty="0">
                <a:latin typeface="Verdana" panose="020B0604030504040204" pitchFamily="34" charset="0"/>
                <a:ea typeface="Verdana" panose="020B0604030504040204" pitchFamily="34" charset="0"/>
              </a:rPr>
              <a:t>WORKFLOW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46959A3-031E-E1BE-B9BA-216C86E56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2441" y="772998"/>
            <a:ext cx="8041064" cy="5750349"/>
          </a:xfrm>
        </p:spPr>
        <p:txBody>
          <a:bodyPr>
            <a:normAutofit fontScale="92500" lnSpcReduction="20000"/>
          </a:bodyPr>
          <a:lstStyle/>
          <a:p>
            <a:pPr marL="0" indent="0" algn="just">
              <a:buNone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1 – Understanding the Raw Dataset </a:t>
            </a:r>
          </a:p>
          <a:p>
            <a:pPr marL="0" indent="0" algn="just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team first analyzed the structure to identify all cleaning and transformation steps needed. </a:t>
            </a:r>
            <a:endParaRPr lang="en-IN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2 – Data Cleaning &amp; Preparation (Power Query)</a:t>
            </a:r>
            <a:r>
              <a:rPr lang="en-IN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step ensured that the dashboard visuals produced correct insights.</a:t>
            </a:r>
            <a:endParaRPr lang="en-IN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3 – Data Modeling &amp; Measure Creation (DAX)</a:t>
            </a:r>
            <a:r>
              <a:rPr lang="en-IN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DAX also fixed logical issues created by the raw dataset (e.g., recalculating correct percentages)</a:t>
            </a:r>
            <a:endParaRPr lang="en-IN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4 – Designing Visual Pages</a:t>
            </a:r>
            <a:endParaRPr lang="en-IN" sz="1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dashboard pages were built with a clear structure: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02920" lvl="1" indent="0" algn="just">
              <a:buNone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1 – Election Overview &amp; Trends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02920" lvl="1" indent="0" algn="just">
              <a:buNone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2 – Special Elections &amp; Fusion Ticket Analysis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02920" lvl="1" indent="0" algn="just">
              <a:buNone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3 – State-wise Candidate Vote Distribution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02920" lvl="1" indent="0" algn="just">
              <a:buNone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4 – Party &amp; Candidate Performance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02920" lvl="1" indent="0" algn="just">
              <a:buNone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5 – Seat Distribution by Party and State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02920" lvl="1" indent="0" algn="just">
              <a:buNone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6 – State Wise Election Participation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02920" lvl="1" indent="0" algn="just">
              <a:buNone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7 –Election Results-Final Overview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5 – Usability &amp; Visual Refinements</a:t>
            </a:r>
            <a:r>
              <a:rPr lang="en-IN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Map color contrast</a:t>
            </a:r>
            <a:r>
              <a:rPr lang="en-I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label visibility, Slicer interactivity, Clean layout spacing</a:t>
            </a:r>
            <a:r>
              <a:rPr lang="en-IN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Improved title clarity &amp; page names</a:t>
            </a:r>
            <a:endParaRPr lang="en-IN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FF948D-C772-D4D9-ADEE-CC02F7845F7F}"/>
              </a:ext>
            </a:extLst>
          </p:cNvPr>
          <p:cNvSpPr/>
          <p:nvPr/>
        </p:nvSpPr>
        <p:spPr>
          <a:xfrm>
            <a:off x="0" y="-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2B3794-9459-E1CF-E55D-8C64125EBB80}"/>
              </a:ext>
            </a:extLst>
          </p:cNvPr>
          <p:cNvSpPr/>
          <p:nvPr/>
        </p:nvSpPr>
        <p:spPr>
          <a:xfrm>
            <a:off x="0" y="647150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6357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27719-5863-3894-3254-97FEE9113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IN" sz="3200" b="1" dirty="0">
                <a:latin typeface="Verdana" panose="020B0604030504040204" pitchFamily="34" charset="0"/>
                <a:ea typeface="Verdana" panose="020B0604030504040204" pitchFamily="34" charset="0"/>
              </a:rPr>
              <a:t>SYSTEM DESIGN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F987016-3798-A0BC-51C6-CF2CB8682D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8738" y="939015"/>
            <a:ext cx="7315200" cy="51212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CSV Dataset </a:t>
            </a:r>
          </a:p>
          <a:p>
            <a:pPr marL="0" indent="0" algn="ctr">
              <a:buNone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↓</a:t>
            </a:r>
          </a:p>
          <a:p>
            <a:pPr marL="0" indent="0" algn="ctr">
              <a:buNone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Power Query (Cleaning &amp; Transformation)</a:t>
            </a:r>
          </a:p>
          <a:p>
            <a:pPr marL="0" indent="0" algn="ctr">
              <a:buNone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↓</a:t>
            </a:r>
          </a:p>
          <a:p>
            <a:pPr marL="0" indent="0" algn="ctr">
              <a:buNone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Power BI Data Model (Tables + Relationships)</a:t>
            </a:r>
          </a:p>
          <a:p>
            <a:pPr marL="0" indent="0" algn="ctr">
              <a:buNone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↓</a:t>
            </a:r>
          </a:p>
          <a:p>
            <a:pPr marL="0" indent="0" algn="ctr">
              <a:buNone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DAX Measures &amp; KPIs</a:t>
            </a:r>
          </a:p>
          <a:p>
            <a:pPr marL="0" indent="0" algn="ctr">
              <a:buNone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↓</a:t>
            </a:r>
          </a:p>
          <a:p>
            <a:pPr marL="0" indent="0" algn="ctr">
              <a:buNone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Interactive Dashboard Visuals</a:t>
            </a:r>
          </a:p>
          <a:p>
            <a:pPr marL="0" indent="0" algn="ctr">
              <a:buNone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↓</a:t>
            </a:r>
          </a:p>
          <a:p>
            <a:pPr marL="0" indent="0" algn="ctr">
              <a:buNone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 Insights &amp; Analysis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779579-BB4F-A11F-53A6-C576383E13A4}"/>
              </a:ext>
            </a:extLst>
          </p:cNvPr>
          <p:cNvSpPr/>
          <p:nvPr/>
        </p:nvSpPr>
        <p:spPr>
          <a:xfrm>
            <a:off x="0" y="-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9EEF6C-8C7E-6457-D1FE-8C55BD87BAF3}"/>
              </a:ext>
            </a:extLst>
          </p:cNvPr>
          <p:cNvSpPr/>
          <p:nvPr/>
        </p:nvSpPr>
        <p:spPr>
          <a:xfrm>
            <a:off x="0" y="6462359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60314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42F92-A148-BCA5-C2CC-55818E6DC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MILESTONES</a:t>
            </a:r>
            <a:r>
              <a:rPr lang="en-IN" dirty="0"/>
              <a:t>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D7B62B8-EA2D-63F6-588D-45027F095F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25126897"/>
              </p:ext>
            </p:extLst>
          </p:nvPr>
        </p:nvGraphicFramePr>
        <p:xfrm>
          <a:off x="3808429" y="546753"/>
          <a:ext cx="7579151" cy="578805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41254">
                  <a:extLst>
                    <a:ext uri="{9D8B030D-6E8A-4147-A177-3AD203B41FA5}">
                      <a16:colId xmlns:a16="http://schemas.microsoft.com/office/drawing/2014/main" val="1146301681"/>
                    </a:ext>
                  </a:extLst>
                </a:gridCol>
                <a:gridCol w="4301836">
                  <a:extLst>
                    <a:ext uri="{9D8B030D-6E8A-4147-A177-3AD203B41FA5}">
                      <a16:colId xmlns:a16="http://schemas.microsoft.com/office/drawing/2014/main" val="3034226949"/>
                    </a:ext>
                  </a:extLst>
                </a:gridCol>
                <a:gridCol w="1536061">
                  <a:extLst>
                    <a:ext uri="{9D8B030D-6E8A-4147-A177-3AD203B41FA5}">
                      <a16:colId xmlns:a16="http://schemas.microsoft.com/office/drawing/2014/main" val="2958371701"/>
                    </a:ext>
                  </a:extLst>
                </a:gridCol>
              </a:tblGrid>
              <a:tr h="4374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kern="100" dirty="0">
                          <a:effectLst/>
                        </a:rPr>
                        <a:t>Weekly Activities </a:t>
                      </a:r>
                      <a:endParaRPr lang="en-IN" sz="11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kern="100" dirty="0">
                          <a:effectLst/>
                        </a:rPr>
                        <a:t>                 Milestones</a:t>
                      </a:r>
                      <a:endParaRPr lang="en-IN" sz="11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kern="100" dirty="0">
                          <a:effectLst/>
                        </a:rPr>
                        <a:t>     Date</a:t>
                      </a:r>
                      <a:endParaRPr lang="en-IN" sz="11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84581125"/>
                  </a:ext>
                </a:extLst>
              </a:tr>
              <a:tr h="5170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kern="100" dirty="0">
                          <a:effectLst/>
                        </a:rPr>
                        <a:t>Week 1</a:t>
                      </a:r>
                      <a:endParaRPr lang="en-IN" sz="12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kern="100" dirty="0">
                          <a:effectLst/>
                        </a:rPr>
                        <a:t>Milestone 1: Project Initialization, Dataset Setup, Data cleaning and preprocessing  </a:t>
                      </a:r>
                      <a:endParaRPr lang="en-IN" sz="11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kern="100">
                          <a:effectLst/>
                        </a:rPr>
                        <a:t>January 16,2026</a:t>
                      </a:r>
                      <a:endParaRPr lang="en-IN" sz="1100" b="1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2072726"/>
                  </a:ext>
                </a:extLst>
              </a:tr>
              <a:tr h="13431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kern="100" dirty="0">
                          <a:effectLst/>
                        </a:rPr>
                        <a:t>Week 2</a:t>
                      </a:r>
                      <a:endParaRPr lang="en-IN" sz="12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25095">
                        <a:buNone/>
                      </a:pPr>
                      <a:r>
                        <a:rPr lang="en-US" sz="1400" b="1" kern="100" dirty="0">
                          <a:effectLst/>
                        </a:rPr>
                        <a:t>Milestone 2: </a:t>
                      </a:r>
                      <a:endParaRPr lang="en-IN" sz="1100" b="1" kern="100" dirty="0">
                        <a:effectLst/>
                      </a:endParaRPr>
                    </a:p>
                    <a:p>
                      <a:pPr marR="125095">
                        <a:buNone/>
                      </a:pPr>
                      <a:r>
                        <a:rPr lang="en-US" sz="1400" b="1" kern="100" dirty="0">
                          <a:effectLst/>
                        </a:rPr>
                        <a:t>Dashboard development: </a:t>
                      </a:r>
                      <a:endParaRPr lang="en-IN" sz="1100" b="1" kern="100" dirty="0">
                        <a:effectLst/>
                      </a:endParaRPr>
                    </a:p>
                    <a:p>
                      <a:pPr marR="125095">
                        <a:buNone/>
                      </a:pPr>
                      <a:r>
                        <a:rPr lang="en-US" sz="1400" b="1" kern="100" dirty="0">
                          <a:effectLst/>
                        </a:rPr>
                        <a:t>Page1:Election Overview and Trends</a:t>
                      </a:r>
                      <a:endParaRPr lang="en-IN" sz="1100" b="1" kern="100" dirty="0">
                        <a:effectLst/>
                      </a:endParaRPr>
                    </a:p>
                    <a:p>
                      <a:pPr marR="125095">
                        <a:buNone/>
                      </a:pPr>
                      <a:r>
                        <a:rPr lang="en-US" sz="1400" b="1" kern="100" dirty="0">
                          <a:effectLst/>
                        </a:rPr>
                        <a:t>Page2: Special Elections and Fusion Ticket Analysis </a:t>
                      </a:r>
                      <a:endParaRPr lang="en-IN" sz="1100" b="1" kern="100" dirty="0">
                        <a:effectLst/>
                      </a:endParaRPr>
                    </a:p>
                    <a:p>
                      <a:pPr marR="125095">
                        <a:buNone/>
                      </a:pPr>
                      <a:r>
                        <a:rPr lang="en-US" sz="1400" b="1" kern="100" dirty="0">
                          <a:effectLst/>
                        </a:rPr>
                        <a:t>Page3: State-wise Candidate Vote Distribution</a:t>
                      </a:r>
                      <a:endParaRPr lang="en-IN" sz="11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kern="100">
                          <a:effectLst/>
                        </a:rPr>
                        <a:t>January 23,2026</a:t>
                      </a:r>
                      <a:endParaRPr lang="en-IN" sz="1100" b="1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47542406"/>
                  </a:ext>
                </a:extLst>
              </a:tr>
              <a:tr h="3127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kern="100">
                          <a:effectLst/>
                        </a:rPr>
                        <a:t>Week 3</a:t>
                      </a:r>
                      <a:endParaRPr lang="en-IN" sz="1200" b="1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kern="100">
                          <a:effectLst/>
                        </a:rPr>
                        <a:t>Optimization and documentation              </a:t>
                      </a:r>
                      <a:endParaRPr lang="en-IN" sz="1100" b="1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kern="100">
                          <a:effectLst/>
                        </a:rPr>
                        <a:t> </a:t>
                      </a:r>
                      <a:endParaRPr lang="en-IN" sz="1100" b="1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61457130"/>
                  </a:ext>
                </a:extLst>
              </a:tr>
              <a:tr h="9920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kern="100" dirty="0">
                          <a:effectLst/>
                        </a:rPr>
                        <a:t>Week 4</a:t>
                      </a:r>
                      <a:endParaRPr lang="en-IN" sz="12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25095">
                        <a:buNone/>
                      </a:pPr>
                      <a:r>
                        <a:rPr lang="en-US" sz="1400" b="1" kern="100" dirty="0">
                          <a:effectLst/>
                        </a:rPr>
                        <a:t>Milestone3: </a:t>
                      </a:r>
                      <a:endParaRPr lang="en-IN" sz="1100" b="1" kern="100" dirty="0">
                        <a:effectLst/>
                      </a:endParaRPr>
                    </a:p>
                    <a:p>
                      <a:pPr marR="125095">
                        <a:buNone/>
                      </a:pPr>
                      <a:r>
                        <a:rPr lang="en-US" sz="1400" b="1" kern="100" dirty="0">
                          <a:effectLst/>
                        </a:rPr>
                        <a:t>Dashboard development: </a:t>
                      </a:r>
                      <a:endParaRPr lang="en-IN" sz="1100" b="1" kern="100" dirty="0">
                        <a:effectLst/>
                      </a:endParaRPr>
                    </a:p>
                    <a:p>
                      <a:pPr marR="125095">
                        <a:buNone/>
                      </a:pPr>
                      <a:r>
                        <a:rPr lang="en-US" sz="1400" b="1" kern="100" dirty="0">
                          <a:effectLst/>
                        </a:rPr>
                        <a:t>Page4: Party and Candidate Performance</a:t>
                      </a:r>
                      <a:br>
                        <a:rPr lang="en-US" sz="1400" b="1" kern="100" dirty="0">
                          <a:effectLst/>
                        </a:rPr>
                      </a:br>
                      <a:r>
                        <a:rPr lang="en-US" sz="1400" b="1" kern="100" dirty="0">
                          <a:effectLst/>
                        </a:rPr>
                        <a:t>Page5: Seat Distribution by Party and State</a:t>
                      </a:r>
                      <a:endParaRPr lang="en-IN" sz="11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kern="100">
                          <a:effectLst/>
                        </a:rPr>
                        <a:t>January 30,2026</a:t>
                      </a:r>
                      <a:endParaRPr lang="en-IN" sz="1100" b="1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772541266"/>
                  </a:ext>
                </a:extLst>
              </a:tr>
              <a:tr h="34004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kern="100" dirty="0">
                          <a:effectLst/>
                        </a:rPr>
                        <a:t>Week 5</a:t>
                      </a:r>
                      <a:endParaRPr lang="en-IN" sz="12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kern="100" dirty="0">
                          <a:effectLst/>
                        </a:rPr>
                        <a:t>Optimization and documentation</a:t>
                      </a:r>
                      <a:endParaRPr lang="en-IN" sz="11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kern="100" dirty="0">
                          <a:effectLst/>
                        </a:rPr>
                        <a:t> </a:t>
                      </a:r>
                      <a:endParaRPr lang="en-IN" sz="11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238751575"/>
                  </a:ext>
                </a:extLst>
              </a:tr>
              <a:tr h="12391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kern="100" dirty="0">
                          <a:effectLst/>
                        </a:rPr>
                        <a:t>Week 6</a:t>
                      </a:r>
                      <a:endParaRPr lang="en-IN" sz="12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25095">
                        <a:buNone/>
                      </a:pPr>
                      <a:r>
                        <a:rPr lang="en-US" sz="1400" b="1" kern="100" dirty="0">
                          <a:effectLst/>
                        </a:rPr>
                        <a:t>Milestone4: </a:t>
                      </a:r>
                      <a:endParaRPr lang="en-IN" sz="1100" b="1" kern="100" dirty="0">
                        <a:effectLst/>
                      </a:endParaRPr>
                    </a:p>
                    <a:p>
                      <a:pPr marR="125095">
                        <a:buNone/>
                      </a:pPr>
                      <a:r>
                        <a:rPr lang="en-US" sz="1400" b="1" kern="100" dirty="0">
                          <a:effectLst/>
                        </a:rPr>
                        <a:t>Dashboard development: </a:t>
                      </a:r>
                      <a:endParaRPr lang="en-IN" sz="1100" b="1" kern="100" dirty="0">
                        <a:effectLst/>
                      </a:endParaRPr>
                    </a:p>
                    <a:p>
                      <a:pPr marR="125095">
                        <a:buNone/>
                      </a:pPr>
                      <a:r>
                        <a:rPr lang="en-US" sz="1400" b="1" kern="100" dirty="0">
                          <a:effectLst/>
                        </a:rPr>
                        <a:t>Page6: State-wise Election Participation and Comparison</a:t>
                      </a:r>
                      <a:endParaRPr lang="en-IN" sz="1100" b="1" kern="100" dirty="0">
                        <a:effectLst/>
                      </a:endParaRPr>
                    </a:p>
                    <a:p>
                      <a:pPr marR="125095">
                        <a:buNone/>
                      </a:pPr>
                      <a:r>
                        <a:rPr lang="en-US" sz="1400" b="1" kern="100" dirty="0">
                          <a:effectLst/>
                        </a:rPr>
                        <a:t>Page7: Election results – Final Overview</a:t>
                      </a:r>
                      <a:endParaRPr lang="en-IN" sz="11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kern="100" dirty="0">
                          <a:effectLst/>
                        </a:rPr>
                        <a:t>February 6,2026</a:t>
                      </a:r>
                      <a:endParaRPr lang="en-IN" sz="11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3446726"/>
                  </a:ext>
                </a:extLst>
              </a:tr>
              <a:tr h="2957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kern="100" dirty="0">
                          <a:effectLst/>
                        </a:rPr>
                        <a:t>Week 7</a:t>
                      </a:r>
                      <a:endParaRPr lang="en-IN" sz="12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kern="100">
                          <a:effectLst/>
                        </a:rPr>
                        <a:t>Optimization and documentation</a:t>
                      </a:r>
                      <a:endParaRPr lang="en-IN" sz="1100" b="1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kern="100" dirty="0">
                          <a:effectLst/>
                        </a:rPr>
                        <a:t> </a:t>
                      </a:r>
                      <a:endParaRPr lang="en-IN" sz="11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886634383"/>
                  </a:ext>
                </a:extLst>
              </a:tr>
              <a:tr h="31053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kern="100" dirty="0">
                          <a:effectLst/>
                        </a:rPr>
                        <a:t>Week 8</a:t>
                      </a:r>
                      <a:endParaRPr lang="en-IN" sz="12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kern="100">
                          <a:effectLst/>
                        </a:rPr>
                        <a:t>Documentation and Final Presentation</a:t>
                      </a:r>
                      <a:endParaRPr lang="en-IN" sz="1100" b="1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kern="100" dirty="0">
                          <a:effectLst/>
                        </a:rPr>
                        <a:t> </a:t>
                      </a:r>
                      <a:endParaRPr lang="en-IN" sz="11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3869765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54AF014-DCC7-FD09-0699-171F8207FA71}"/>
              </a:ext>
            </a:extLst>
          </p:cNvPr>
          <p:cNvSpPr/>
          <p:nvPr/>
        </p:nvSpPr>
        <p:spPr>
          <a:xfrm>
            <a:off x="0" y="-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01F6BD-1C0A-FB5C-1819-6AB4A3F7ABC4}"/>
              </a:ext>
            </a:extLst>
          </p:cNvPr>
          <p:cNvSpPr/>
          <p:nvPr/>
        </p:nvSpPr>
        <p:spPr>
          <a:xfrm>
            <a:off x="0" y="647150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16029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F279603-AE98-0F01-839F-B85B7F6B05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19088" y="839890"/>
            <a:ext cx="4096979" cy="230541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DE791C-6189-4A67-4529-C2FCC2DB7C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5719" y="839890"/>
            <a:ext cx="4096979" cy="23084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1775A5F-7A36-DAD3-0937-F6AE57F0B7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9088" y="3705890"/>
            <a:ext cx="4122341" cy="232199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988E017-0B1D-30C7-7D1E-3A506449EE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5719" y="3712702"/>
            <a:ext cx="4101419" cy="232199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F51CA6A6-CF08-D3DE-095B-656EEA426DFD}"/>
              </a:ext>
            </a:extLst>
          </p:cNvPr>
          <p:cNvSpPr txBox="1">
            <a:spLocks/>
          </p:cNvSpPr>
          <p:nvPr/>
        </p:nvSpPr>
        <p:spPr>
          <a:xfrm>
            <a:off x="256032" y="1142999"/>
            <a:ext cx="2834640" cy="46088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b="1" dirty="0">
                <a:latin typeface="Verdana" panose="020B0604030504040204" pitchFamily="34" charset="0"/>
                <a:ea typeface="Verdana" panose="020B0604030504040204" pitchFamily="34" charset="0"/>
              </a:rPr>
              <a:t>OUTCOMES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029787-E94C-E8F9-5127-46114EACCFE2}"/>
              </a:ext>
            </a:extLst>
          </p:cNvPr>
          <p:cNvSpPr/>
          <p:nvPr/>
        </p:nvSpPr>
        <p:spPr>
          <a:xfrm>
            <a:off x="0" y="-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333239-878A-50A2-7896-CFAB7F5A83EE}"/>
              </a:ext>
            </a:extLst>
          </p:cNvPr>
          <p:cNvSpPr/>
          <p:nvPr/>
        </p:nvSpPr>
        <p:spPr>
          <a:xfrm>
            <a:off x="0" y="6464693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66664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19249-9780-6DF5-2FDA-2AA68D7D8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032" y="1142999"/>
            <a:ext cx="2834640" cy="4608871"/>
          </a:xfrm>
        </p:spPr>
        <p:txBody>
          <a:bodyPr anchor="ctr">
            <a:normAutofit/>
          </a:bodyPr>
          <a:lstStyle/>
          <a:p>
            <a:pPr algn="ctr"/>
            <a:r>
              <a:rPr lang="en-IN" b="1" dirty="0">
                <a:latin typeface="Verdana" panose="020B0604030504040204" pitchFamily="34" charset="0"/>
                <a:ea typeface="Verdana" panose="020B0604030504040204" pitchFamily="34" charset="0"/>
              </a:rPr>
              <a:t>OUTCOMES 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B91CD00C-DB2A-19B9-6EEB-343F6227CBDD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6373" r="6373"/>
          <a:stretch/>
        </p:blipFill>
        <p:spPr>
          <a:xfrm>
            <a:off x="5481613" y="782432"/>
            <a:ext cx="4432893" cy="254508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71A7EB-9F15-56F2-3DAC-E1E2DBF07E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018" y="5397910"/>
            <a:ext cx="2834640" cy="930918"/>
          </a:xfrm>
        </p:spPr>
        <p:txBody>
          <a:bodyPr>
            <a:normAutofit/>
          </a:bodyPr>
          <a:lstStyle/>
          <a:p>
            <a:r>
              <a:rPr lang="en-IN" dirty="0"/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EF12D1-58C9-F83C-BC1C-07DE76BB67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915" y="3530485"/>
            <a:ext cx="4159145" cy="239218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51BCC8A-73EA-0470-F3E9-5FA78DA21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6317" y="3530485"/>
            <a:ext cx="4197975" cy="239218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F30104B-5D8E-CE2F-650D-0449F4378C7F}"/>
              </a:ext>
            </a:extLst>
          </p:cNvPr>
          <p:cNvSpPr/>
          <p:nvPr/>
        </p:nvSpPr>
        <p:spPr>
          <a:xfrm>
            <a:off x="0" y="-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9172D3-5162-E32D-E9A3-F7AC8D10747F}"/>
              </a:ext>
            </a:extLst>
          </p:cNvPr>
          <p:cNvSpPr/>
          <p:nvPr/>
        </p:nvSpPr>
        <p:spPr>
          <a:xfrm>
            <a:off x="0" y="647150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05984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415CA-BF5B-0F8E-7C0E-0689BD303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85725" y="1123837"/>
            <a:ext cx="3560445" cy="4601183"/>
          </a:xfrm>
        </p:spPr>
        <p:txBody>
          <a:bodyPr>
            <a:normAutofit/>
          </a:bodyPr>
          <a:lstStyle/>
          <a:p>
            <a:pPr algn="ctr"/>
            <a:r>
              <a:rPr lang="en-IN" sz="2800" b="1" dirty="0">
                <a:latin typeface="Verdana" panose="020B0604030504040204" pitchFamily="34" charset="0"/>
                <a:ea typeface="Verdana" panose="020B0604030504040204" pitchFamily="34" charset="0"/>
              </a:rPr>
              <a:t>FUTURE ENHANCEMENTS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A6A303-491A-D077-1842-A873397FC2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2133" y="1014939"/>
            <a:ext cx="7315200" cy="5120640"/>
          </a:xfrm>
        </p:spPr>
        <p:txBody>
          <a:bodyPr>
            <a:normAutofit fontScale="92500" lnSpcReduction="10000"/>
          </a:bodyPr>
          <a:lstStyle/>
          <a:p>
            <a:pPr algn="just"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Predictive AI Integration: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Incorporating machine learning models to project "Likely Winners" in real-time based on early partial returns.</a:t>
            </a:r>
          </a:p>
          <a:p>
            <a:pPr algn="just"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Predictive "What-If" Modeling: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Enabling a feature (similar to major news networks) to estimate final outcomes as soon as key precincts report.</a:t>
            </a:r>
          </a:p>
          <a:p>
            <a:pPr algn="just"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Demographic Overlay: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Integrating US Census data to visualize how factors like income, education, and age influenced the voting shifts seen in your current charts.</a:t>
            </a:r>
          </a:p>
          <a:p>
            <a:pPr algn="just"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Live API Connectivity: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Transitioning from static datasets to live Web API feeds (such as the Associated Press) for automated updates during election nights.</a:t>
            </a: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50000"/>
              </a:lnSpc>
              <a:buNone/>
            </a:pP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F3CEDC-102A-87E1-28E1-9176CBD37547}"/>
              </a:ext>
            </a:extLst>
          </p:cNvPr>
          <p:cNvSpPr/>
          <p:nvPr/>
        </p:nvSpPr>
        <p:spPr>
          <a:xfrm>
            <a:off x="0" y="-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CFAF24-BB56-9163-4A74-45CD0880F520}"/>
              </a:ext>
            </a:extLst>
          </p:cNvPr>
          <p:cNvSpPr/>
          <p:nvPr/>
        </p:nvSpPr>
        <p:spPr>
          <a:xfrm>
            <a:off x="0" y="647150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53532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61F4F-1C8F-D27A-2DC6-0A1FB4455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2800" b="1" dirty="0">
                <a:latin typeface="Verdana" panose="020B0604030504040204" pitchFamily="34" charset="0"/>
                <a:ea typeface="Verdana" panose="020B0604030504040204" pitchFamily="34" charset="0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1AE01-E631-9183-8E86-8FD9989DA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948951"/>
            <a:ext cx="7315200" cy="5120640"/>
          </a:xfrm>
        </p:spPr>
        <p:txBody>
          <a:bodyPr/>
          <a:lstStyle/>
          <a:p>
            <a:pPr marL="0" lvl="0" indent="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project successfully transformed raw election data into meaningful insights</a:t>
            </a:r>
          </a:p>
          <a:p>
            <a:pPr marL="0" lvl="0" indent="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Demonstrated the power of data visualization in understanding political trends</a:t>
            </a:r>
          </a:p>
          <a:p>
            <a:pPr marL="0" lvl="0" indent="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Enabled comprehensive analysis of party performance and voter behavior</a:t>
            </a:r>
          </a:p>
          <a:p>
            <a:pPr marL="0" lvl="0" indent="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Served as a valuable learning experience in data analytics and visualization</a:t>
            </a:r>
          </a:p>
          <a:p>
            <a:pPr marL="0" lvl="0" indent="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Established a strong foundation for advanced analytical projects</a:t>
            </a:r>
          </a:p>
          <a:p>
            <a:pPr marL="0" indent="0" algn="just">
              <a:lnSpc>
                <a:spcPct val="150000"/>
              </a:lnSpc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47A02E-5277-9B85-BF98-7A37F098BDAE}"/>
              </a:ext>
            </a:extLst>
          </p:cNvPr>
          <p:cNvSpPr/>
          <p:nvPr/>
        </p:nvSpPr>
        <p:spPr>
          <a:xfrm>
            <a:off x="0" y="-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F61B9E-491F-5ABC-AB62-842B126A31CE}"/>
              </a:ext>
            </a:extLst>
          </p:cNvPr>
          <p:cNvSpPr/>
          <p:nvPr/>
        </p:nvSpPr>
        <p:spPr>
          <a:xfrm>
            <a:off x="0" y="6462359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51763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BE038-97DE-A01D-5A00-92D0EF14A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23837"/>
            <a:ext cx="3429000" cy="4601183"/>
          </a:xfrm>
        </p:spPr>
        <p:txBody>
          <a:bodyPr>
            <a:normAutofit/>
          </a:bodyPr>
          <a:lstStyle/>
          <a:p>
            <a:pPr algn="ctr"/>
            <a:r>
              <a:rPr lang="en-IN" sz="2000" b="1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ACKNOWLEDGEMENT</a:t>
            </a:r>
            <a:br>
              <a:rPr lang="en-IN" sz="2000" b="1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</a:br>
            <a:br>
              <a:rPr lang="en-IN" sz="2000" b="1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</a:br>
            <a:r>
              <a:rPr lang="en-IN" sz="2000" b="1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AND </a:t>
            </a:r>
            <a:br>
              <a:rPr lang="en-IN" sz="2000" b="1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</a:br>
            <a:br>
              <a:rPr lang="en-IN" sz="2000" b="1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</a:br>
            <a:r>
              <a:rPr lang="en-IN" sz="2000" b="1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REFERENCE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3682DF1-A310-E16D-B286-8E1001192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8738" y="863600"/>
            <a:ext cx="7315200" cy="5121275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Team: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360000" indent="-457200" algn="just">
              <a:spcBef>
                <a:spcPts val="0"/>
              </a:spcBef>
              <a:buFont typeface="+mj-lt"/>
              <a:buAutoNum type="arabicPeriod"/>
            </a:pPr>
            <a:r>
              <a:rPr lang="en-IN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Neelapu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Herambudu, </a:t>
            </a:r>
          </a:p>
          <a:p>
            <a:pPr marL="360000" indent="-457200" algn="just">
              <a:spcBef>
                <a:spcPts val="0"/>
              </a:spcBef>
              <a:buFont typeface="+mj-lt"/>
              <a:buAutoNum type="arabicPeriod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Francis Daniel, </a:t>
            </a:r>
          </a:p>
          <a:p>
            <a:pPr marL="360000" indent="-457200" algn="just">
              <a:spcBef>
                <a:spcPts val="0"/>
              </a:spcBef>
              <a:buFont typeface="+mj-lt"/>
              <a:buAutoNum type="arabicPeriod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Swathika Murugan, </a:t>
            </a:r>
          </a:p>
          <a:p>
            <a:pPr marL="360000" indent="-457200" algn="just">
              <a:spcBef>
                <a:spcPts val="0"/>
              </a:spcBef>
              <a:buFont typeface="+mj-lt"/>
              <a:buAutoNum type="arabicPeriod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Shaik Shabeena Praveen, </a:t>
            </a:r>
          </a:p>
          <a:p>
            <a:pPr marL="360000" indent="-457200" algn="just">
              <a:spcBef>
                <a:spcPts val="0"/>
              </a:spcBef>
              <a:buFont typeface="+mj-lt"/>
              <a:buAutoNum type="arabicPeriod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Gopi Krishna, </a:t>
            </a:r>
          </a:p>
          <a:p>
            <a:pPr marL="360000" indent="-457200" algn="just">
              <a:spcBef>
                <a:spcPts val="0"/>
              </a:spcBef>
              <a:buFont typeface="+mj-lt"/>
              <a:buAutoNum type="arabicPeriod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Tanmay </a:t>
            </a:r>
            <a:r>
              <a:rPr lang="en-IN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Parulkar</a:t>
            </a: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: 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 Election Data set 1976-22 (Kaggle).</a:t>
            </a:r>
          </a:p>
          <a:p>
            <a:pPr marL="0" indent="0" algn="just">
              <a:buNone/>
            </a:pP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Notes: 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Dashboard insights vary based on selected filters</a:t>
            </a:r>
          </a:p>
          <a:p>
            <a:pPr algn="just"/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accuracy depends on source dataset completeness</a:t>
            </a:r>
          </a:p>
          <a:p>
            <a:pPr algn="just"/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Visuals are designed for analytical interpretation</a:t>
            </a:r>
          </a:p>
          <a:p>
            <a:pPr algn="just"/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developed as part of Infosys Springboard Virtual Internship 6.0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C66E49-7833-FA47-4EC0-BBFA3FF2C46A}"/>
              </a:ext>
            </a:extLst>
          </p:cNvPr>
          <p:cNvSpPr/>
          <p:nvPr/>
        </p:nvSpPr>
        <p:spPr>
          <a:xfrm>
            <a:off x="0" y="-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B35B794-322F-B229-695F-B20C47EBA277}"/>
              </a:ext>
            </a:extLst>
          </p:cNvPr>
          <p:cNvSpPr/>
          <p:nvPr/>
        </p:nvSpPr>
        <p:spPr>
          <a:xfrm>
            <a:off x="0" y="6471501"/>
            <a:ext cx="12192000" cy="386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293836"/>
      </p:ext>
    </p:extLst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TM03457475[[fn=Frame]]</Template>
  <TotalTime>1353</TotalTime>
  <Words>811</Words>
  <Application>Microsoft Office PowerPoint</Application>
  <PresentationFormat>Widescreen</PresentationFormat>
  <Paragraphs>145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Corbel</vt:lpstr>
      <vt:lpstr>Times New Roman</vt:lpstr>
      <vt:lpstr>Verdana</vt:lpstr>
      <vt:lpstr>Wingdings 2</vt:lpstr>
      <vt:lpstr>Frame</vt:lpstr>
      <vt:lpstr>ElectViz: Election Data Visualization for Media Batch-11</vt:lpstr>
      <vt:lpstr>PROJECT OVERVIEW </vt:lpstr>
      <vt:lpstr>PROJECT FILES</vt:lpstr>
      <vt:lpstr>KEY FEATURES</vt:lpstr>
      <vt:lpstr>TOOLS &amp; TECHNOLOGIES</vt:lpstr>
      <vt:lpstr>WORKFLOW</vt:lpstr>
      <vt:lpstr>SYSTEM DESIGN</vt:lpstr>
      <vt:lpstr>MILESTONES </vt:lpstr>
      <vt:lpstr>PowerPoint Presentation</vt:lpstr>
      <vt:lpstr>OUTCOMES </vt:lpstr>
      <vt:lpstr>FUTURE ENHANCEMENTS </vt:lpstr>
      <vt:lpstr>CONCLUSION</vt:lpstr>
      <vt:lpstr>ACKNOWLEDGEMENT   AND   REFERENCE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Herambudu neelapu</dc:creator>
  <cp:lastModifiedBy>Shabeena shaik</cp:lastModifiedBy>
  <cp:revision>10</cp:revision>
  <dcterms:created xsi:type="dcterms:W3CDTF">2026-02-02T17:28:50Z</dcterms:created>
  <dcterms:modified xsi:type="dcterms:W3CDTF">2026-02-13T12:57:58Z</dcterms:modified>
</cp:coreProperties>
</file>