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0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8" r:id="rId7"/>
    <p:sldId id="269" r:id="rId8"/>
    <p:sldId id="261" r:id="rId9"/>
    <p:sldId id="262" r:id="rId10"/>
    <p:sldId id="264" r:id="rId11"/>
    <p:sldId id="263" r:id="rId12"/>
    <p:sldId id="265" r:id="rId13"/>
    <p:sldId id="266" r:id="rId14"/>
    <p:sldId id="267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beena shaik" userId="2d3efc80e0f57c5c" providerId="LiveId" clId="{C872B2C2-F9F0-486F-A32F-691CB39BA76E}"/>
    <pc:docChg chg="custSel addSld delSld modSld">
      <pc:chgData name="Shabeena shaik" userId="2d3efc80e0f57c5c" providerId="LiveId" clId="{C872B2C2-F9F0-486F-A32F-691CB39BA76E}" dt="2026-02-10T13:33:57.944" v="140" actId="20577"/>
      <pc:docMkLst>
        <pc:docMk/>
      </pc:docMkLst>
      <pc:sldChg chg="modSp mod">
        <pc:chgData name="Shabeena shaik" userId="2d3efc80e0f57c5c" providerId="LiveId" clId="{C872B2C2-F9F0-486F-A32F-691CB39BA76E}" dt="2026-02-10T13:33:57.944" v="140" actId="20577"/>
        <pc:sldMkLst>
          <pc:docMk/>
          <pc:sldMk cId="1739385359" sldId="256"/>
        </pc:sldMkLst>
        <pc:spChg chg="mod">
          <ac:chgData name="Shabeena shaik" userId="2d3efc80e0f57c5c" providerId="LiveId" clId="{C872B2C2-F9F0-486F-A32F-691CB39BA76E}" dt="2026-02-10T13:33:57.944" v="140" actId="20577"/>
          <ac:spMkLst>
            <pc:docMk/>
            <pc:sldMk cId="1739385359" sldId="256"/>
            <ac:spMk id="2" creationId="{293A3D2B-976A-6805-0AB4-D5D9E2EE6EEA}"/>
          </ac:spMkLst>
        </pc:spChg>
        <pc:spChg chg="mod">
          <ac:chgData name="Shabeena shaik" userId="2d3efc80e0f57c5c" providerId="LiveId" clId="{C872B2C2-F9F0-486F-A32F-691CB39BA76E}" dt="2026-02-10T13:32:46.138" v="100" actId="313"/>
          <ac:spMkLst>
            <pc:docMk/>
            <pc:sldMk cId="1739385359" sldId="256"/>
            <ac:spMk id="4" creationId="{B531828F-2798-8BE8-56E0-23C8257DB879}"/>
          </ac:spMkLst>
        </pc:spChg>
      </pc:sldChg>
      <pc:sldChg chg="modSp mod">
        <pc:chgData name="Shabeena shaik" userId="2d3efc80e0f57c5c" providerId="LiveId" clId="{C872B2C2-F9F0-486F-A32F-691CB39BA76E}" dt="2026-02-10T13:00:34.772" v="62" actId="5793"/>
        <pc:sldMkLst>
          <pc:docMk/>
          <pc:sldMk cId="3075176307" sldId="266"/>
        </pc:sldMkLst>
        <pc:spChg chg="mod">
          <ac:chgData name="Shabeena shaik" userId="2d3efc80e0f57c5c" providerId="LiveId" clId="{C872B2C2-F9F0-486F-A32F-691CB39BA76E}" dt="2026-02-10T13:00:34.772" v="62" actId="5793"/>
          <ac:spMkLst>
            <pc:docMk/>
            <pc:sldMk cId="3075176307" sldId="266"/>
            <ac:spMk id="4" creationId="{F8270252-5C2F-A050-46C3-7986467B143B}"/>
          </ac:spMkLst>
        </pc:spChg>
      </pc:sldChg>
      <pc:sldChg chg="modSp mod">
        <pc:chgData name="Shabeena shaik" userId="2d3efc80e0f57c5c" providerId="LiveId" clId="{C872B2C2-F9F0-486F-A32F-691CB39BA76E}" dt="2026-02-10T13:00:45.800" v="64" actId="20577"/>
        <pc:sldMkLst>
          <pc:docMk/>
          <pc:sldMk cId="125293836" sldId="267"/>
        </pc:sldMkLst>
        <pc:spChg chg="mod">
          <ac:chgData name="Shabeena shaik" userId="2d3efc80e0f57c5c" providerId="LiveId" clId="{C872B2C2-F9F0-486F-A32F-691CB39BA76E}" dt="2026-02-10T13:00:45.800" v="64" actId="20577"/>
          <ac:spMkLst>
            <pc:docMk/>
            <pc:sldMk cId="125293836" sldId="267"/>
            <ac:spMk id="2" creationId="{BFDBE038-97DE-A01D-5A00-92D0EF14ABD5}"/>
          </ac:spMkLst>
        </pc:spChg>
      </pc:sldChg>
      <pc:sldChg chg="new del">
        <pc:chgData name="Shabeena shaik" userId="2d3efc80e0f57c5c" providerId="LiveId" clId="{C872B2C2-F9F0-486F-A32F-691CB39BA76E}" dt="2026-02-10T13:20:20.177" v="81" actId="2696"/>
        <pc:sldMkLst>
          <pc:docMk/>
          <pc:sldMk cId="903812738" sldId="270"/>
        </pc:sldMkLst>
      </pc:sldChg>
      <pc:sldChg chg="modSp new del mod">
        <pc:chgData name="Shabeena shaik" userId="2d3efc80e0f57c5c" providerId="LiveId" clId="{C872B2C2-F9F0-486F-A32F-691CB39BA76E}" dt="2026-02-10T13:20:05.122" v="77" actId="2696"/>
        <pc:sldMkLst>
          <pc:docMk/>
          <pc:sldMk cId="1488315832" sldId="270"/>
        </pc:sldMkLst>
        <pc:spChg chg="mod">
          <ac:chgData name="Shabeena shaik" userId="2d3efc80e0f57c5c" providerId="LiveId" clId="{C872B2C2-F9F0-486F-A32F-691CB39BA76E}" dt="2026-02-10T13:19:56.454" v="75" actId="20577"/>
          <ac:spMkLst>
            <pc:docMk/>
            <pc:sldMk cId="1488315832" sldId="270"/>
            <ac:spMk id="3" creationId="{62AA2EC4-0DA2-CAC1-0B69-3D97CBB3FD8A}"/>
          </ac:spMkLst>
        </pc:spChg>
      </pc:sldChg>
      <pc:sldChg chg="modSp new mod">
        <pc:chgData name="Shabeena shaik" userId="2d3efc80e0f57c5c" providerId="LiveId" clId="{C872B2C2-F9F0-486F-A32F-691CB39BA76E}" dt="2026-02-10T13:21:05.581" v="99" actId="20577"/>
        <pc:sldMkLst>
          <pc:docMk/>
          <pc:sldMk cId="4254058475" sldId="270"/>
        </pc:sldMkLst>
        <pc:spChg chg="mod">
          <ac:chgData name="Shabeena shaik" userId="2d3efc80e0f57c5c" providerId="LiveId" clId="{C872B2C2-F9F0-486F-A32F-691CB39BA76E}" dt="2026-02-10T13:21:05.581" v="99" actId="20577"/>
          <ac:spMkLst>
            <pc:docMk/>
            <pc:sldMk cId="4254058475" sldId="270"/>
            <ac:spMk id="2" creationId="{CA430A6B-FD1D-C4C9-CF23-2057869F6CC5}"/>
          </ac:spMkLst>
        </pc:spChg>
      </pc:sldChg>
      <pc:sldChg chg="new del">
        <pc:chgData name="Shabeena shaik" userId="2d3efc80e0f57c5c" providerId="LiveId" clId="{C872B2C2-F9F0-486F-A32F-691CB39BA76E}" dt="2026-02-10T13:20:23.124" v="82" actId="2696"/>
        <pc:sldMkLst>
          <pc:docMk/>
          <pc:sldMk cId="1288841602" sldId="271"/>
        </pc:sldMkLst>
      </pc:sldChg>
      <pc:sldChg chg="new del">
        <pc:chgData name="Shabeena shaik" userId="2d3efc80e0f57c5c" providerId="LiveId" clId="{C872B2C2-F9F0-486F-A32F-691CB39BA76E}" dt="2026-02-10T13:20:08.760" v="78" actId="2696"/>
        <pc:sldMkLst>
          <pc:docMk/>
          <pc:sldMk cId="4036138918" sldId="27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5B0ECC-9474-4945-8746-148D35750DE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5EC283-39EA-4997-90FD-E6CDBA984E5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1557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5EC283-39EA-4997-90FD-E6CDBA984E5D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4044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2877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9595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10595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16074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8509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0039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15990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09500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6790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31743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36071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382214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2297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3878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9881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41421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18721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1E87F0A9-1185-430C-AD9F-4A6A23A39DE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765915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  <p:sldLayoutId id="2147483762" r:id="rId12"/>
    <p:sldLayoutId id="2147483763" r:id="rId13"/>
    <p:sldLayoutId id="2147483764" r:id="rId14"/>
    <p:sldLayoutId id="2147483765" r:id="rId15"/>
    <p:sldLayoutId id="2147483766" r:id="rId16"/>
    <p:sldLayoutId id="214748376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A3D2B-976A-6805-0AB4-D5D9E2EE6E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9847" y="599768"/>
            <a:ext cx="8634591" cy="3392129"/>
          </a:xfrm>
        </p:spPr>
        <p:txBody>
          <a:bodyPr anchor="ctr">
            <a:normAutofit/>
          </a:bodyPr>
          <a:lstStyle/>
          <a:p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</a:rPr>
              <a:t> Infosys Virtual Internship</a:t>
            </a:r>
            <a:b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</a:rPr>
              <a:t>Elect Viz - </a:t>
            </a:r>
            <a:r>
              <a:rPr lang="en-US" sz="2800" b="1" dirty="0">
                <a:latin typeface="Verdana" panose="020B0604030504040204" pitchFamily="34" charset="0"/>
                <a:ea typeface="Verdana" panose="020B0604030504040204" pitchFamily="34" charset="0"/>
              </a:rPr>
              <a:t>Election Data Visualization for Media</a:t>
            </a:r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</a:rPr>
              <a:t> Batch-11</a:t>
            </a:r>
            <a:endParaRPr lang="en-IN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B531828F-2798-8BE8-56E0-23C8257DB8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00568" y="3325306"/>
            <a:ext cx="4767225" cy="3013494"/>
          </a:xfrm>
        </p:spPr>
        <p:txBody>
          <a:bodyPr anchor="ctr">
            <a:normAutofit/>
          </a:bodyPr>
          <a:lstStyle/>
          <a:p>
            <a:pPr algn="ctr">
              <a:spcBef>
                <a:spcPts val="600"/>
              </a:spcBef>
            </a:pPr>
            <a:r>
              <a:rPr lang="en-IN" sz="1800" dirty="0">
                <a:solidFill>
                  <a:schemeClr val="tx1"/>
                </a:solidFill>
              </a:rPr>
              <a:t>Mentor : Mrs Nithyasri S J    </a:t>
            </a:r>
          </a:p>
          <a:p>
            <a:pPr>
              <a:spcBef>
                <a:spcPts val="600"/>
              </a:spcBef>
            </a:pPr>
            <a:r>
              <a:rPr lang="en-IN" sz="1800" dirty="0">
                <a:solidFill>
                  <a:schemeClr val="tx1"/>
                </a:solidFill>
              </a:rPr>
              <a:t>    Made by: Shaik Shabeena Parveen</a:t>
            </a:r>
          </a:p>
        </p:txBody>
      </p:sp>
    </p:spTree>
    <p:extLst>
      <p:ext uri="{BB962C8B-B14F-4D97-AF65-F5344CB8AC3E}">
        <p14:creationId xmlns:p14="http://schemas.microsoft.com/office/powerpoint/2010/main" val="17393853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7EF5E-1360-ACD8-7139-838981D70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247" y="254524"/>
            <a:ext cx="10353761" cy="1326321"/>
          </a:xfrm>
        </p:spPr>
        <p:txBody>
          <a:bodyPr/>
          <a:lstStyle/>
          <a:p>
            <a:pPr algn="ctr"/>
            <a:r>
              <a:rPr lang="en-IN" b="1" dirty="0">
                <a:latin typeface="Verdana" panose="020B0604030504040204" pitchFamily="34" charset="0"/>
                <a:ea typeface="Verdana" panose="020B0604030504040204" pitchFamily="34" charset="0"/>
              </a:rPr>
              <a:t>Project Overview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9E02B563-4D87-4D75-FC5E-1DDB1824066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112866" y="1728816"/>
            <a:ext cx="8502372" cy="41242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Project Name: ElectViz – Election Data Analytics Dashboard</a:t>
            </a: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Domain: 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Data Analytics &amp; Visualization</a:t>
            </a: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Tool Used: 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Microsoft Power BI</a:t>
            </a: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Dataset: 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U.S. House of Representatives Elections (1976–2022)</a:t>
            </a: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Objective:</a:t>
            </a: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</a:rPr>
              <a:t>Analyze long-term election trends</a:t>
            </a: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</a:rPr>
              <a:t>Understand party dominance and power shifts</a:t>
            </a: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</a:rPr>
              <a:t>Compare state-wise and candidate-wise performance</a:t>
            </a:r>
          </a:p>
          <a:p>
            <a:pPr marL="50292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Outcome: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      An interactive dashboard enabling data-driven exploration of election data</a:t>
            </a:r>
          </a:p>
        </p:txBody>
      </p:sp>
    </p:spTree>
    <p:extLst>
      <p:ext uri="{BB962C8B-B14F-4D97-AF65-F5344CB8AC3E}">
        <p14:creationId xmlns:p14="http://schemas.microsoft.com/office/powerpoint/2010/main" val="1897350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3C7D1-7080-DED1-AF06-D488FC1302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681887"/>
            <a:ext cx="7729728" cy="1188720"/>
          </a:xfrm>
        </p:spPr>
        <p:txBody>
          <a:bodyPr/>
          <a:lstStyle/>
          <a:p>
            <a:pPr algn="ctr"/>
            <a:r>
              <a:rPr lang="en-IN" b="1" dirty="0">
                <a:latin typeface="Verdana" panose="020B0604030504040204" pitchFamily="34" charset="0"/>
                <a:ea typeface="Verdana" panose="020B0604030504040204" pitchFamily="34" charset="0"/>
              </a:rPr>
              <a:t>Project Files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AD6BF5A-EC3B-F3E2-632A-E795F367CF5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111433" y="2061647"/>
            <a:ext cx="6126870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Raw Dataset: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Historical U.S. House election data (CSV format)</a:t>
            </a: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Processed using Power Query</a:t>
            </a: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Standardized state and party names</a:t>
            </a:r>
          </a:p>
          <a:p>
            <a:pPr marL="50292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Power BI File (.pbix):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0292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Contains data model, DAX measures, and dashboards</a:t>
            </a:r>
          </a:p>
          <a:p>
            <a:pPr marL="50292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Documentation: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Project report</a:t>
            </a: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Dashboard explanation</a:t>
            </a:r>
            <a:endParaRPr lang="en-US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PPT for final submission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4890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EE907-BDB0-EFF7-5F3E-5909320A1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442" y="264732"/>
            <a:ext cx="7729728" cy="1188720"/>
          </a:xfrm>
        </p:spPr>
        <p:txBody>
          <a:bodyPr/>
          <a:lstStyle/>
          <a:p>
            <a:pPr algn="ctr"/>
            <a:r>
              <a:rPr lang="en-IN" b="1" dirty="0">
                <a:latin typeface="Verdana" panose="020B0604030504040204" pitchFamily="34" charset="0"/>
                <a:ea typeface="Verdana" panose="020B0604030504040204" pitchFamily="34" charset="0"/>
              </a:rPr>
              <a:t>Key Features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1616EF06-6A34-97E6-C589-79B8151A8A4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988297" y="1453452"/>
            <a:ext cx="6192511" cy="51670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Interactive dashboards with multi-page navigation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Dynamic filters: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Year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State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Party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Election Type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KPI cards for: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Total votes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Total candidates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Average vote share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State-wise and party-wise comparison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Trend analysis across multiple election cycles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User-friendly and visually consistent design</a:t>
            </a:r>
          </a:p>
        </p:txBody>
      </p:sp>
    </p:spTree>
    <p:extLst>
      <p:ext uri="{BB962C8B-B14F-4D97-AF65-F5344CB8AC3E}">
        <p14:creationId xmlns:p14="http://schemas.microsoft.com/office/powerpoint/2010/main" val="1838607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94D18-2469-1425-ECD1-B8C231866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390" y="226068"/>
            <a:ext cx="8242169" cy="1034901"/>
          </a:xfrm>
        </p:spPr>
        <p:txBody>
          <a:bodyPr>
            <a:normAutofit/>
          </a:bodyPr>
          <a:lstStyle/>
          <a:p>
            <a:pPr algn="ctr"/>
            <a:r>
              <a:rPr lang="en-IN" b="1" dirty="0">
                <a:latin typeface="Verdana" panose="020B0604030504040204" pitchFamily="34" charset="0"/>
                <a:ea typeface="Verdana" panose="020B0604030504040204" pitchFamily="34" charset="0"/>
              </a:rPr>
              <a:t>Tools &amp; Technologies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2EA4193-2FB0-E9E0-DAB7-C52425B2807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786212" y="1364188"/>
            <a:ext cx="3463769" cy="5493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Microsoft Power BI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modeling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Dashboard development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Power Query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and transformation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DAX (Data Analysis Expressions)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Calculated measures and KPIs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Microsoft Excel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Initial data inspection and formatting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 Techniques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Bar charts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Line charts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Donut charts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Maps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Tables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7812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0F418-2630-5ECE-C911-684F2EDC5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1074" y="245534"/>
            <a:ext cx="6686621" cy="838986"/>
          </a:xfrm>
        </p:spPr>
        <p:txBody>
          <a:bodyPr/>
          <a:lstStyle/>
          <a:p>
            <a:r>
              <a:rPr lang="en-IN" b="1" dirty="0"/>
              <a:t>WORKFLOW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06FA14-7439-477D-6283-AD1D14F086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717" y="1291472"/>
            <a:ext cx="10463753" cy="5320995"/>
          </a:xfrm>
        </p:spPr>
        <p:txBody>
          <a:bodyPr>
            <a:normAutofit fontScale="85000" lnSpcReduction="20000"/>
          </a:bodyPr>
          <a:lstStyle/>
          <a:p>
            <a:pPr marL="342900" indent="-342900" algn="just">
              <a:buFont typeface="+mj-lt"/>
              <a:buAutoNum type="arabicPeriod"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 – Understanding the Raw Dataset 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team first analyzed the structure to identify all cleaning and transformation steps needed. )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2 – Data Cleaning &amp; Preparation (Power Query)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step ensured that the dashboard visuals produced correct insights.)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3 – Data Modeling &amp; Measure Creation (DAX)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DAX also fixed logical issues created by the raw dataset (e.g., recalculating correct percentages).)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4 – Designing Visual Pages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1" indent="0" algn="just">
              <a:buNone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Three dashboard pages were built with a clear structure: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1 – Election Overview &amp; Trends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2 – Special Elections &amp; Fusion Ticket Analysis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3 – State-wise Candidate Vote Distribution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4 – Party &amp; Candidate Performance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5 – Seat Distribution by Party and State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6 – State Wise Election Participation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7 –Election Results-Final Overview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5 – Usability &amp; Visual Refinements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Map color contrast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label visibility, Slicer interactivity, Clean layout spacing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Improved title clarity &amp; page names)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61223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FEBDA-1349-A388-D208-F74F12752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256" y="295389"/>
            <a:ext cx="5809928" cy="750986"/>
          </a:xfrm>
        </p:spPr>
        <p:txBody>
          <a:bodyPr/>
          <a:lstStyle/>
          <a:p>
            <a:r>
              <a:rPr lang="en-IN" b="1" dirty="0"/>
              <a:t>SYSTEM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E5E57-58C3-380C-8780-4638EB546F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6293" y="1611983"/>
            <a:ext cx="7729728" cy="4496585"/>
          </a:xfrm>
        </p:spPr>
        <p:txBody>
          <a:bodyPr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IN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CSV Dataset </a:t>
            </a:r>
          </a:p>
          <a:p>
            <a:pPr marL="0" indent="0" algn="ctr">
              <a:buNone/>
            </a:pPr>
            <a:r>
              <a:rPr lang="en-IN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↓</a:t>
            </a:r>
          </a:p>
          <a:p>
            <a:pPr marL="0" indent="0" algn="ctr">
              <a:buNone/>
            </a:pPr>
            <a:r>
              <a:rPr lang="en-IN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Query (Cleaning &amp; Transformation)</a:t>
            </a:r>
          </a:p>
          <a:p>
            <a:pPr marL="0" indent="0" algn="ctr">
              <a:buNone/>
            </a:pPr>
            <a:r>
              <a:rPr lang="en-IN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↓</a:t>
            </a:r>
          </a:p>
          <a:p>
            <a:pPr marL="0" indent="0" algn="ctr">
              <a:buNone/>
            </a:pPr>
            <a:r>
              <a:rPr lang="en-IN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BI Data Model (Tables + Relationships)</a:t>
            </a:r>
          </a:p>
          <a:p>
            <a:pPr marL="0" indent="0" algn="ctr">
              <a:buNone/>
            </a:pPr>
            <a:r>
              <a:rPr lang="en-IN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↓</a:t>
            </a:r>
          </a:p>
          <a:p>
            <a:pPr marL="0" indent="0" algn="ctr">
              <a:buNone/>
            </a:pPr>
            <a:r>
              <a:rPr lang="en-IN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DAX Measures &amp; KPIs</a:t>
            </a:r>
          </a:p>
          <a:p>
            <a:pPr marL="0" indent="0" algn="ctr">
              <a:buNone/>
            </a:pPr>
            <a:r>
              <a:rPr lang="en-IN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↓</a:t>
            </a:r>
          </a:p>
          <a:p>
            <a:pPr marL="0" indent="0" algn="ctr">
              <a:buNone/>
            </a:pPr>
            <a:r>
              <a:rPr lang="en-IN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Dashboard Visuals</a:t>
            </a:r>
          </a:p>
          <a:p>
            <a:pPr marL="0" indent="0" algn="ctr">
              <a:buNone/>
            </a:pPr>
            <a:r>
              <a:rPr lang="en-IN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↓</a:t>
            </a:r>
          </a:p>
          <a:p>
            <a:pPr marL="0" indent="0" algn="ctr">
              <a:buNone/>
            </a:pPr>
            <a:r>
              <a:rPr lang="en-IN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Insights &amp; Analysis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29939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A69E8-95B1-1A6E-5BCB-630C683C9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latin typeface="Verdana" panose="020B0604030504040204" pitchFamily="34" charset="0"/>
                <a:ea typeface="Verdana" panose="020B0604030504040204" pitchFamily="34" charset="0"/>
              </a:rPr>
              <a:t>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03721-BC39-AE41-FC7A-DDE5B8C62B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MIT License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short and permissive software license that allows media houses to use, copy, and modify your dashboard, provided the original copyright and permission notice are included.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3322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A078E-8673-C945-E710-E2B883D36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9652" y="341413"/>
            <a:ext cx="5265874" cy="921780"/>
          </a:xfrm>
        </p:spPr>
        <p:txBody>
          <a:bodyPr/>
          <a:lstStyle/>
          <a:p>
            <a:pPr algn="ctr"/>
            <a:r>
              <a:rPr lang="en-IN" b="1" dirty="0">
                <a:latin typeface="Verdana" panose="020B0604030504040204" pitchFamily="34" charset="0"/>
                <a:ea typeface="Verdana" panose="020B0604030504040204" pitchFamily="34" charset="0"/>
              </a:rPr>
              <a:t>Team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143157-13DF-39B4-1551-CAC82ABD18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1878008"/>
            <a:ext cx="7729728" cy="310198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Learnings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Practical experience with Power BI and DAX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real-world data cleaning challenges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Designing interactive and analytical dashboards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Applying data storytelling principles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Outcomes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Successfully developed a multi-page Power BI dashboard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Gained hands-on analytics project experience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Improved analytical thinking and visualization skills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Strengthened teamwork and communication abilities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58998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2F250-86EB-3003-C015-87AB7DDD3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3297" y="201138"/>
            <a:ext cx="9387589" cy="1046375"/>
          </a:xfrm>
        </p:spPr>
        <p:txBody>
          <a:bodyPr anchor="ctr">
            <a:normAutofit/>
          </a:bodyPr>
          <a:lstStyle/>
          <a:p>
            <a:pPr algn="ctr"/>
            <a:r>
              <a:rPr lang="en-IN" sz="3600" b="1" dirty="0">
                <a:latin typeface="Verdana" panose="020B0604030504040204" pitchFamily="34" charset="0"/>
                <a:ea typeface="Verdana" panose="020B0604030504040204" pitchFamily="34" charset="0"/>
              </a:rPr>
              <a:t>MILESTONE Outcomes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7EA6BC06-5566-65E4-DD78-2C155655F1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156" y="4235915"/>
            <a:ext cx="4122340" cy="237656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15CD757-2026-B809-1541-72D55257A8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156" y="1566327"/>
            <a:ext cx="4122340" cy="235077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E307CC7-2FC6-824F-99EB-2EBBDAAB56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3108" y="1517496"/>
            <a:ext cx="4210706" cy="239960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09C656C-6AD9-B4B0-BBA9-C4F861B9B9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7376" y="4257257"/>
            <a:ext cx="4210706" cy="239960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666664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71A7EB-9F15-56F2-3DAC-E1E2DBF07E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018" y="5397910"/>
            <a:ext cx="2834640" cy="930918"/>
          </a:xfrm>
        </p:spPr>
        <p:txBody>
          <a:bodyPr>
            <a:normAutofit/>
          </a:bodyPr>
          <a:lstStyle/>
          <a:p>
            <a:r>
              <a:rPr lang="en-IN" dirty="0"/>
              <a:t> 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5339F6B-C1E1-4223-80AA-288986DCD8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2886" y="1389690"/>
            <a:ext cx="4503576" cy="253298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8212B04-5E39-5F9D-104C-77536BCA9C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318" y="4201816"/>
            <a:ext cx="4219098" cy="239218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24BD778-4695-25E8-715A-4186771386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9295" y="4201816"/>
            <a:ext cx="4189438" cy="239218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05984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415CA-BF5B-0F8E-7C0E-0689BD303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950" y="322559"/>
            <a:ext cx="5345882" cy="1176303"/>
          </a:xfrm>
        </p:spPr>
        <p:txBody>
          <a:bodyPr>
            <a:normAutofit/>
          </a:bodyPr>
          <a:lstStyle/>
          <a:p>
            <a:pPr algn="ctr"/>
            <a:r>
              <a:rPr lang="en-IN" sz="3200" b="1" dirty="0">
                <a:latin typeface="Verdana" panose="020B0604030504040204" pitchFamily="34" charset="0"/>
                <a:ea typeface="Verdana" panose="020B0604030504040204" pitchFamily="34" charset="0"/>
              </a:rPr>
              <a:t>Future Enhancements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A6A303-491A-D077-1842-A873397FC2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4187" y="2100716"/>
            <a:ext cx="9524089" cy="3101983"/>
          </a:xfrm>
        </p:spPr>
        <p:txBody>
          <a:bodyPr>
            <a:noAutofit/>
          </a:bodyPr>
          <a:lstStyle/>
          <a:p>
            <a:pPr algn="just">
              <a:lnSpc>
                <a:spcPct val="150000"/>
              </a:lnSpc>
            </a:pPr>
            <a:r>
              <a:rPr lang="en-US" sz="1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Predictive AI Integration: </a:t>
            </a:r>
            <a:r>
              <a:rPr lang="en-US" sz="19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Incorporating machine learning models to project "Likely Winners" in real-time based on early partial returns.</a:t>
            </a:r>
          </a:p>
          <a:p>
            <a:pPr algn="just">
              <a:lnSpc>
                <a:spcPct val="150000"/>
              </a:lnSpc>
            </a:pPr>
            <a:r>
              <a:rPr lang="en-US" sz="1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Predictive "What-If" Modeling: </a:t>
            </a:r>
            <a:r>
              <a:rPr lang="en-US" sz="19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Enabling a feature (similar to major news networks) to estimate final outcomes as soon as key precincts report.</a:t>
            </a:r>
          </a:p>
          <a:p>
            <a:pPr algn="just">
              <a:lnSpc>
                <a:spcPct val="150000"/>
              </a:lnSpc>
            </a:pPr>
            <a:r>
              <a:rPr lang="en-US" sz="1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Demographic Overlay: </a:t>
            </a:r>
            <a:r>
              <a:rPr lang="en-US" sz="19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Integrating US Census data to visualize how factors like income, education, and age influenced the voting shifts seen in your current charts.</a:t>
            </a:r>
          </a:p>
          <a:p>
            <a:pPr algn="just">
              <a:lnSpc>
                <a:spcPct val="150000"/>
              </a:lnSpc>
            </a:pPr>
            <a:r>
              <a:rPr lang="en-US" sz="1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 API Connectivity: </a:t>
            </a:r>
            <a:r>
              <a:rPr lang="en-US" sz="19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Transitioning from static datasets to live Web API feeds (such as the Associated Press) for automated updates during election nights.</a:t>
            </a:r>
            <a:endParaRPr lang="en-IN" sz="19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53532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61F4F-1C8F-D27A-2DC6-0A1FB4455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580759"/>
            <a:ext cx="7729728" cy="1188720"/>
          </a:xfrm>
        </p:spPr>
        <p:txBody>
          <a:bodyPr/>
          <a:lstStyle/>
          <a:p>
            <a:pPr algn="ctr"/>
            <a:r>
              <a:rPr lang="en-IN" b="1" dirty="0">
                <a:latin typeface="Verdana" panose="020B0604030504040204" pitchFamily="34" charset="0"/>
                <a:ea typeface="Verdana" panose="020B0604030504040204" pitchFamily="34" charset="0"/>
              </a:rPr>
              <a:t>Conclusion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8270252-5C2F-A050-46C3-7986467B143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231136" y="1622628"/>
            <a:ext cx="8410841" cy="4191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project successfully transformed raw election data into meaningful insights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Demonstrated the power of data visualization in understanding political trends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Enabled comprehensive analysis of party performance and voter behavior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Served as a valuable learning experience in data analytics and visualization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Established a strong foundation for advanced analytical projects</a:t>
            </a:r>
          </a:p>
        </p:txBody>
      </p:sp>
    </p:spTree>
    <p:extLst>
      <p:ext uri="{BB962C8B-B14F-4D97-AF65-F5344CB8AC3E}">
        <p14:creationId xmlns:p14="http://schemas.microsoft.com/office/powerpoint/2010/main" val="3075176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BE038-97DE-A01D-5A00-92D0EF14A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3237" y="341412"/>
            <a:ext cx="8625526" cy="1459106"/>
          </a:xfrm>
        </p:spPr>
        <p:txBody>
          <a:bodyPr>
            <a:normAutofit fontScale="90000"/>
          </a:bodyPr>
          <a:lstStyle/>
          <a:p>
            <a:r>
              <a:rPr lang="en-IN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Contributors</a:t>
            </a:r>
            <a:br>
              <a:rPr lang="en-IN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</a:br>
            <a:r>
              <a:rPr lang="en-IN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</a:t>
            </a:r>
            <a:br>
              <a:rPr lang="en-IN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</a:br>
            <a:r>
              <a:rPr lang="en-IN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Reference &amp;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E6FD7B-9018-F742-0999-00C4E6D1D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091290"/>
            <a:ext cx="7729728" cy="3101983"/>
          </a:xfrm>
        </p:spPr>
        <p:txBody>
          <a:bodyPr>
            <a:noAutofit/>
          </a:bodyPr>
          <a:lstStyle/>
          <a:p>
            <a:pPr algn="just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Team: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60000" indent="-457200" algn="just">
              <a:spcBef>
                <a:spcPts val="0"/>
              </a:spcBef>
              <a:buFont typeface="+mj-lt"/>
              <a:buAutoNum type="arabicPeriod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Neelapu Herambudu, </a:t>
            </a:r>
          </a:p>
          <a:p>
            <a:pPr marL="360000" indent="-457200" algn="just">
              <a:spcBef>
                <a:spcPts val="0"/>
              </a:spcBef>
              <a:buFont typeface="+mj-lt"/>
              <a:buAutoNum type="arabicPeriod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Francis Daniel, </a:t>
            </a:r>
          </a:p>
          <a:p>
            <a:pPr marL="360000" indent="-457200" algn="just">
              <a:spcBef>
                <a:spcPts val="0"/>
              </a:spcBef>
              <a:buFont typeface="+mj-lt"/>
              <a:buAutoNum type="arabicPeriod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Swathika Murugan, </a:t>
            </a:r>
          </a:p>
          <a:p>
            <a:pPr marL="360000" indent="-457200" algn="just">
              <a:spcBef>
                <a:spcPts val="0"/>
              </a:spcBef>
              <a:buFont typeface="+mj-lt"/>
              <a:buAutoNum type="arabicPeriod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Shaik Shabeena Praveen, </a:t>
            </a:r>
          </a:p>
          <a:p>
            <a:pPr marL="360000" indent="-457200" algn="just">
              <a:spcBef>
                <a:spcPts val="0"/>
              </a:spcBef>
              <a:buFont typeface="+mj-lt"/>
              <a:buAutoNum type="arabicPeriod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Gopi Krishna, </a:t>
            </a:r>
          </a:p>
          <a:p>
            <a:pPr marL="360000" indent="-457200" algn="just">
              <a:spcBef>
                <a:spcPts val="0"/>
              </a:spcBef>
              <a:buFont typeface="+mj-lt"/>
              <a:buAutoNum type="arabicPeriod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Tanmay Parulkar</a:t>
            </a:r>
          </a:p>
          <a:p>
            <a:pPr algn="just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: 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 Election Data set 1976-22 (Kaggle).</a:t>
            </a:r>
          </a:p>
          <a:p>
            <a:pPr algn="just"/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Notes: 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Dashboard insights vary based on selected filters</a:t>
            </a:r>
          </a:p>
          <a:p>
            <a:pPr algn="just"/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accuracy depends on source dataset completeness</a:t>
            </a:r>
          </a:p>
          <a:p>
            <a:pPr algn="just"/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Visuals are designed for analytical interpretation</a:t>
            </a:r>
          </a:p>
          <a:p>
            <a:pPr algn="just"/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developed as part of Infosys Springboard Virtual Internship 6.0</a:t>
            </a:r>
          </a:p>
        </p:txBody>
      </p:sp>
    </p:spTree>
    <p:extLst>
      <p:ext uri="{BB962C8B-B14F-4D97-AF65-F5344CB8AC3E}">
        <p14:creationId xmlns:p14="http://schemas.microsoft.com/office/powerpoint/2010/main" val="1252938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30A6B-FD1D-C4C9-CF23-2057869F6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THANK YOU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….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09925-DF22-6E4D-1B67-5BC891E0CA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405847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597</TotalTime>
  <Words>762</Words>
  <Application>Microsoft Office PowerPoint</Application>
  <PresentationFormat>Widescreen</PresentationFormat>
  <Paragraphs>135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Century Gothic</vt:lpstr>
      <vt:lpstr>Times New Roman</vt:lpstr>
      <vt:lpstr>Verdana</vt:lpstr>
      <vt:lpstr>Wingdings 3</vt:lpstr>
      <vt:lpstr>Ion</vt:lpstr>
      <vt:lpstr> Infosys Virtual Internship Elect Viz - Election Data Visualization for Media Batch-11</vt:lpstr>
      <vt:lpstr>Project Overview</vt:lpstr>
      <vt:lpstr>Project Files</vt:lpstr>
      <vt:lpstr>Key Features</vt:lpstr>
      <vt:lpstr>Tools &amp; Technologies</vt:lpstr>
      <vt:lpstr>WORKFLOW </vt:lpstr>
      <vt:lpstr>SYSTEM DESIGN</vt:lpstr>
      <vt:lpstr>License</vt:lpstr>
      <vt:lpstr>Team Learning</vt:lpstr>
      <vt:lpstr>MILESTONE Outcomes</vt:lpstr>
      <vt:lpstr>PowerPoint Presentation</vt:lpstr>
      <vt:lpstr>Future Enhancements</vt:lpstr>
      <vt:lpstr>Conclusion</vt:lpstr>
      <vt:lpstr>Contributors   Reference &amp; Notes</vt:lpstr>
      <vt:lpstr>THANK YOU….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Herambudu neelapu</dc:creator>
  <cp:lastModifiedBy>Shabeena shaik</cp:lastModifiedBy>
  <cp:revision>19</cp:revision>
  <dcterms:created xsi:type="dcterms:W3CDTF">2026-02-02T17:28:50Z</dcterms:created>
  <dcterms:modified xsi:type="dcterms:W3CDTF">2026-02-10T13:34:06Z</dcterms:modified>
</cp:coreProperties>
</file>